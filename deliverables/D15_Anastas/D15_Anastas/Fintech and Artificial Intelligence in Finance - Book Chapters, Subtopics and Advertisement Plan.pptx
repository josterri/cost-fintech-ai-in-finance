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57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A393-29A5-4E6C-92A8-E81E7EDD101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3AE5-F935-4200-A83C-A9AFE81822A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A393-29A5-4E6C-92A8-E81E7EDD101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3AE5-F935-4200-A83C-A9AFE81822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A393-29A5-4E6C-92A8-E81E7EDD101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3AE5-F935-4200-A83C-A9AFE81822A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A393-29A5-4E6C-92A8-E81E7EDD101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3AE5-F935-4200-A83C-A9AFE81822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A393-29A5-4E6C-92A8-E81E7EDD101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3AE5-F935-4200-A83C-A9AFE81822A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A393-29A5-4E6C-92A8-E81E7EDD101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3AE5-F935-4200-A83C-A9AFE81822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A393-29A5-4E6C-92A8-E81E7EDD101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3AE5-F935-4200-A83C-A9AFE81822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A393-29A5-4E6C-92A8-E81E7EDD101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3AE5-F935-4200-A83C-A9AFE81822A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A393-29A5-4E6C-92A8-E81E7EDD101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3AE5-F935-4200-A83C-A9AFE81822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A393-29A5-4E6C-92A8-E81E7EDD101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3AE5-F935-4200-A83C-A9AFE81822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A393-29A5-4E6C-92A8-E81E7EDD101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3AE5-F935-4200-A83C-A9AFE81822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0931A393-29A5-4E6C-92A8-E81E7EDD101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397B3AE5-F935-4200-A83C-A9AFE81822A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657600"/>
            <a:ext cx="7772400" cy="182976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Fintech</a:t>
            </a:r>
            <a:r>
              <a:rPr lang="en-US" dirty="0"/>
              <a:t> and Artificial Intelligence in Finance - Towards a transparent financial industry</a:t>
            </a:r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843" y="4191000"/>
            <a:ext cx="37719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22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Transparency in </a:t>
            </a:r>
            <a:r>
              <a:rPr lang="en-US" dirty="0" err="1"/>
              <a:t>FinTech</a:t>
            </a:r>
            <a:r>
              <a:rPr lang="en-US" dirty="0"/>
              <a:t>;</a:t>
            </a:r>
          </a:p>
          <a:p>
            <a:pPr fontAlgn="base"/>
            <a:r>
              <a:rPr lang="en-US" dirty="0"/>
              <a:t>Transparent versus Black Box Decision-Support Models in the Financial Industry;</a:t>
            </a:r>
          </a:p>
          <a:p>
            <a:pPr fontAlgn="base"/>
            <a:r>
              <a:rPr lang="en-US" dirty="0"/>
              <a:t>Transparency into Investment Product Performance for Clients and </a:t>
            </a:r>
          </a:p>
          <a:p>
            <a:pPr fontAlgn="base"/>
            <a:r>
              <a:rPr lang="en-US" dirty="0"/>
              <a:t>Women in </a:t>
            </a:r>
            <a:r>
              <a:rPr lang="en-US" dirty="0" err="1"/>
              <a:t>Fintech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421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95800"/>
            <a:ext cx="9144000" cy="1600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Subtopics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Best </a:t>
            </a:r>
            <a:r>
              <a:rPr lang="en-US" dirty="0"/>
              <a:t>practices for a transparent finance industry. Guidelines to improve </a:t>
            </a:r>
            <a:r>
              <a:rPr lang="en-US" dirty="0" smtClean="0"/>
              <a:t>transparency;</a:t>
            </a:r>
            <a:endParaRPr lang="en-US" b="0" dirty="0" smtClean="0">
              <a:effectLst/>
            </a:endParaRPr>
          </a:p>
          <a:p>
            <a:r>
              <a:rPr lang="en-US" dirty="0" smtClean="0"/>
              <a:t>Transparency </a:t>
            </a:r>
            <a:r>
              <a:rPr lang="en-US" dirty="0"/>
              <a:t>within </a:t>
            </a:r>
            <a:r>
              <a:rPr lang="en-US" dirty="0" err="1"/>
              <a:t>Cryptocurrency</a:t>
            </a:r>
            <a:r>
              <a:rPr lang="en-US" dirty="0"/>
              <a:t> Initial Coin </a:t>
            </a:r>
            <a:r>
              <a:rPr lang="en-US" dirty="0" smtClean="0"/>
              <a:t>Offering;</a:t>
            </a:r>
            <a:endParaRPr lang="en-US" b="0" dirty="0" smtClean="0">
              <a:effectLst/>
            </a:endParaRPr>
          </a:p>
          <a:p>
            <a:r>
              <a:rPr lang="en-US" dirty="0"/>
              <a:t>  </a:t>
            </a:r>
            <a:r>
              <a:rPr lang="en-US" dirty="0" err="1"/>
              <a:t>Crowdfunding</a:t>
            </a:r>
            <a:r>
              <a:rPr lang="en-US" dirty="0"/>
              <a:t>/P2P platform features useful for rating platform integrity and to predict </a:t>
            </a:r>
            <a:r>
              <a:rPr lang="en-US" dirty="0" smtClean="0"/>
              <a:t>fraud;</a:t>
            </a:r>
            <a:endParaRPr lang="en-US" b="0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8361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4876800"/>
            <a:ext cx="5778500" cy="2159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Subtopics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Approaches to building a statistically valid back-testing framework;</a:t>
            </a:r>
            <a:endParaRPr lang="en-US" b="0" dirty="0" smtClean="0">
              <a:effectLst/>
            </a:endParaRPr>
          </a:p>
          <a:p>
            <a:r>
              <a:rPr lang="en-US" dirty="0" smtClean="0"/>
              <a:t>Utilization of Financial time series from exchanges and regional consolidation platforms;</a:t>
            </a:r>
            <a:endParaRPr lang="en-US" b="0" dirty="0" smtClean="0">
              <a:effectLst/>
            </a:endParaRPr>
          </a:p>
          <a:p>
            <a:r>
              <a:rPr lang="en-US" dirty="0" smtClean="0"/>
              <a:t>Methodology for evaluating/rating ICOs and </a:t>
            </a:r>
            <a:r>
              <a:rPr lang="en-US" dirty="0" err="1" smtClean="0"/>
              <a:t>crowdfunding</a:t>
            </a:r>
            <a:r>
              <a:rPr lang="en-US" dirty="0" smtClean="0"/>
              <a:t>/P2P platforms and for detection/early warning about fraud/illegal behavior with emphasis on the application of AI tools;</a:t>
            </a:r>
            <a:endParaRPr lang="en-US" b="0" dirty="0" smtClean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11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Subtopics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Methodology (with examples of formal criteria) for testing AI techniques in real-time;</a:t>
            </a:r>
            <a:endParaRPr lang="en-US" b="0" dirty="0" smtClean="0">
              <a:effectLst/>
            </a:endParaRPr>
          </a:p>
          <a:p>
            <a:r>
              <a:rPr lang="en-US" dirty="0" smtClean="0"/>
              <a:t>Possible approaches to tackle risk ;</a:t>
            </a:r>
            <a:endParaRPr lang="en-US" b="0" dirty="0" smtClean="0">
              <a:effectLst/>
            </a:endParaRPr>
          </a:p>
          <a:p>
            <a:r>
              <a:rPr lang="en-US" dirty="0" smtClean="0"/>
              <a:t>management issues related to </a:t>
            </a:r>
            <a:r>
              <a:rPr lang="en-US" dirty="0" err="1" smtClean="0"/>
              <a:t>blockchain</a:t>
            </a:r>
            <a:r>
              <a:rPr lang="en-US" dirty="0" smtClean="0"/>
              <a:t> assets and </a:t>
            </a:r>
            <a:r>
              <a:rPr lang="en-US" dirty="0" err="1" smtClean="0"/>
              <a:t>crowdfunding</a:t>
            </a:r>
            <a:r>
              <a:rPr lang="en-US" dirty="0" smtClean="0"/>
              <a:t>/P2P lending;</a:t>
            </a:r>
            <a:endParaRPr lang="en-US" b="0" dirty="0" smtClean="0">
              <a:effectLst/>
            </a:endParaRPr>
          </a:p>
          <a:p>
            <a:r>
              <a:rPr lang="en-US" dirty="0" smtClean="0"/>
              <a:t>Mitigating risks connected with the increased use of digital assets;</a:t>
            </a:r>
            <a:endParaRPr lang="en-US" b="0" dirty="0" smtClean="0">
              <a:effectLst/>
            </a:endParaRPr>
          </a:p>
          <a:p>
            <a:endParaRPr lang="en-US" b="0" dirty="0" smtClean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648200"/>
            <a:ext cx="1993900" cy="102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649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Subtopics 4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Design of stress tests for the evaluation of AI and ML models under shifting financial conditions to improve the robustness of models;</a:t>
            </a:r>
            <a:endParaRPr lang="en-US" b="0" dirty="0" smtClean="0">
              <a:effectLst/>
            </a:endParaRPr>
          </a:p>
          <a:p>
            <a:r>
              <a:rPr lang="en-US" dirty="0" smtClean="0"/>
              <a:t>AI models to generate “failed trials” of investment product producers and on quantitative strategies with the usage of the promising field of network data analysis;</a:t>
            </a:r>
            <a:endParaRPr lang="en-US" b="0" dirty="0" smtClean="0">
              <a:effectLst/>
            </a:endParaRP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29200"/>
            <a:ext cx="18796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04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Subtopics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Women in </a:t>
            </a:r>
            <a:r>
              <a:rPr lang="en-US" dirty="0" err="1" smtClean="0"/>
              <a:t>Fintech</a:t>
            </a:r>
            <a:r>
              <a:rPr lang="en-US" dirty="0" smtClean="0"/>
              <a:t>- Transparency in Financial services, products and technologies and statistical methods involved in </a:t>
            </a:r>
            <a:r>
              <a:rPr lang="en-US" dirty="0" err="1" smtClean="0"/>
              <a:t>Fintech</a:t>
            </a:r>
            <a:r>
              <a:rPr lang="en-US" dirty="0" smtClean="0"/>
              <a:t> as a tool to improve financial inclusion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581400"/>
            <a:ext cx="164465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95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Plan for Promotion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Mobilizing new colleagues;</a:t>
            </a:r>
          </a:p>
          <a:p>
            <a:r>
              <a:rPr lang="en-US" dirty="0" smtClean="0"/>
              <a:t>Direct mails ;</a:t>
            </a:r>
          </a:p>
          <a:p>
            <a:r>
              <a:rPr lang="en-US" dirty="0" smtClean="0"/>
              <a:t>CA19130 website;</a:t>
            </a:r>
            <a:endParaRPr lang="en-US" dirty="0"/>
          </a:p>
          <a:p>
            <a:r>
              <a:rPr lang="en-US" dirty="0" smtClean="0"/>
              <a:t>Leveraging other online resources ;</a:t>
            </a:r>
          </a:p>
          <a:p>
            <a:r>
              <a:rPr lang="en-US" dirty="0" err="1" smtClean="0"/>
              <a:t>Linkedin</a:t>
            </a:r>
            <a:r>
              <a:rPr lang="en-US" dirty="0" smtClean="0"/>
              <a:t> ;</a:t>
            </a:r>
            <a:endParaRPr lang="en-US" dirty="0"/>
          </a:p>
          <a:p>
            <a:r>
              <a:rPr lang="en-US" dirty="0" smtClean="0"/>
              <a:t>Possible Blog writing</a:t>
            </a:r>
            <a:endParaRPr lang="en-US" dirty="0"/>
          </a:p>
          <a:p>
            <a:r>
              <a:rPr lang="en-US" dirty="0" smtClean="0"/>
              <a:t>Include </a:t>
            </a:r>
            <a:r>
              <a:rPr lang="en-US" dirty="0"/>
              <a:t>information in your newsletter.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101" y="4800600"/>
            <a:ext cx="164465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03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Plan for Promotion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Publishing call for papers on conference directory sites</a:t>
            </a:r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 err="1" smtClean="0"/>
              <a:t>WikiCFP</a:t>
            </a:r>
            <a:r>
              <a:rPr lang="en-US" dirty="0" smtClean="0"/>
              <a:t> ;</a:t>
            </a:r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 err="1" smtClean="0"/>
              <a:t>PapersInvited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625" y="3143250"/>
            <a:ext cx="1682750" cy="571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768850"/>
            <a:ext cx="1600200" cy="628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278" y="4765607"/>
            <a:ext cx="2310193" cy="12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18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Possible issues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Number of papers </a:t>
            </a:r>
            <a:r>
              <a:rPr lang="en-US" dirty="0" smtClean="0"/>
              <a:t>received; </a:t>
            </a:r>
            <a:endParaRPr lang="en-US" dirty="0" smtClean="0"/>
          </a:p>
          <a:p>
            <a:r>
              <a:rPr lang="en-US" dirty="0" smtClean="0"/>
              <a:t>Quality </a:t>
            </a:r>
            <a:r>
              <a:rPr lang="en-US" dirty="0" smtClean="0"/>
              <a:t>;</a:t>
            </a:r>
            <a:endParaRPr lang="en-US" dirty="0" smtClean="0"/>
          </a:p>
          <a:p>
            <a:r>
              <a:rPr lang="en-US" dirty="0" smtClean="0"/>
              <a:t>Balanced paper applications for book </a:t>
            </a:r>
            <a:r>
              <a:rPr lang="en-US" dirty="0" smtClean="0"/>
              <a:t>chapters ;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97855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of Springer rules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process of reading, the reader will be introduced to terminology used in very specific ways. The terminology is based on what has become a standard interpretation within the narrow discipline of the existing body of research plus the novel work being reported.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takes time to internalize these nuanced connotations and to apply them as intended. Adequate reading comprehension also requires deep analytic thinking about abstractions, in most cases.</a:t>
            </a:r>
          </a:p>
          <a:p>
            <a:pPr marL="109728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5245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71</TotalTime>
  <Words>373</Words>
  <Application>Microsoft Office PowerPoint</Application>
  <PresentationFormat>On-screen Show (4:3)</PresentationFormat>
  <Paragraphs>43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Clarity</vt:lpstr>
      <vt:lpstr>Fintech and Artificial Intelligence in Finance - Towards a transparent financial industry  </vt:lpstr>
      <vt:lpstr>Chapters</vt:lpstr>
      <vt:lpstr> Subtopics 1</vt:lpstr>
      <vt:lpstr>Subtopics 2</vt:lpstr>
      <vt:lpstr>Subtopics 3</vt:lpstr>
      <vt:lpstr>Subtopics 4 </vt:lpstr>
      <vt:lpstr>Subtopics 5</vt:lpstr>
      <vt:lpstr> Plan for Promotion</vt:lpstr>
      <vt:lpstr> Plan for Promotion</vt:lpstr>
      <vt:lpstr>Possible issues </vt:lpstr>
      <vt:lpstr>Part of Springer rules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Fintech and Artificial Intelligence in Finance - Towards a transparent financial industry</dc:title>
  <dc:creator>Perdorues</dc:creator>
  <cp:lastModifiedBy>Perdorues</cp:lastModifiedBy>
  <cp:revision>11</cp:revision>
  <dcterms:created xsi:type="dcterms:W3CDTF">2024-05-15T06:55:00Z</dcterms:created>
  <dcterms:modified xsi:type="dcterms:W3CDTF">2024-05-15T08:51:34Z</dcterms:modified>
</cp:coreProperties>
</file>